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3" r:id="rId1"/>
  </p:sldMasterIdLst>
  <p:sldIdLst>
    <p:sldId id="256" r:id="rId2"/>
    <p:sldId id="257" r:id="rId3"/>
    <p:sldId id="258" r:id="rId4"/>
    <p:sldId id="265" r:id="rId5"/>
    <p:sldId id="260" r:id="rId6"/>
    <p:sldId id="261" r:id="rId7"/>
    <p:sldId id="262" r:id="rId8"/>
    <p:sldId id="263" r:id="rId9"/>
    <p:sldId id="264"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80" d="100"/>
          <a:sy n="80" d="100"/>
        </p:scale>
        <p:origin x="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32CA5657-DEC5-4A6F-A8F3-8828773B3E32}" type="datetimeFigureOut">
              <a:rPr lang="en-IN" smtClean="0"/>
              <a:t>15-11-2025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85AD09-48C0-46EE-9323-5EA866ED2D86}" type="slidenum">
              <a:rPr lang="en-IN" smtClean="0"/>
              <a:t>‹#›</a:t>
            </a:fld>
            <a:endParaRPr lang="en-IN"/>
          </a:p>
        </p:txBody>
      </p:sp>
    </p:spTree>
    <p:extLst>
      <p:ext uri="{BB962C8B-B14F-4D97-AF65-F5344CB8AC3E}">
        <p14:creationId xmlns:p14="http://schemas.microsoft.com/office/powerpoint/2010/main" val="21390398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CA5657-DEC5-4A6F-A8F3-8828773B3E32}" type="datetimeFigureOut">
              <a:rPr lang="en-IN" smtClean="0"/>
              <a:t>15-11-2025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85AD09-48C0-46EE-9323-5EA866ED2D86}" type="slidenum">
              <a:rPr lang="en-IN" smtClean="0"/>
              <a:t>‹#›</a:t>
            </a:fld>
            <a:endParaRPr lang="en-IN"/>
          </a:p>
        </p:txBody>
      </p:sp>
    </p:spTree>
    <p:extLst>
      <p:ext uri="{BB962C8B-B14F-4D97-AF65-F5344CB8AC3E}">
        <p14:creationId xmlns:p14="http://schemas.microsoft.com/office/powerpoint/2010/main" val="1345076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32CA5657-DEC5-4A6F-A8F3-8828773B3E32}" type="datetimeFigureOut">
              <a:rPr lang="en-IN" smtClean="0"/>
              <a:t>15-11-2025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85AD09-48C0-46EE-9323-5EA866ED2D86}" type="slidenum">
              <a:rPr lang="en-IN" smtClean="0"/>
              <a:t>‹#›</a:t>
            </a:fld>
            <a:endParaRPr lang="en-IN"/>
          </a:p>
        </p:txBody>
      </p:sp>
    </p:spTree>
    <p:extLst>
      <p:ext uri="{BB962C8B-B14F-4D97-AF65-F5344CB8AC3E}">
        <p14:creationId xmlns:p14="http://schemas.microsoft.com/office/powerpoint/2010/main" val="252670871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32CA5657-DEC5-4A6F-A8F3-8828773B3E32}" type="datetimeFigureOut">
              <a:rPr lang="en-IN" smtClean="0"/>
              <a:t>15-11-2025</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9985AD09-48C0-46EE-9323-5EA866ED2D86}" type="slidenum">
              <a:rPr lang="en-IN" smtClean="0"/>
              <a:t>‹#›</a:t>
            </a:fld>
            <a:endParaRPr lang="en-IN"/>
          </a:p>
        </p:txBody>
      </p:sp>
    </p:spTree>
    <p:extLst>
      <p:ext uri="{BB962C8B-B14F-4D97-AF65-F5344CB8AC3E}">
        <p14:creationId xmlns:p14="http://schemas.microsoft.com/office/powerpoint/2010/main" val="962148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32CA5657-DEC5-4A6F-A8F3-8828773B3E32}" type="datetimeFigureOut">
              <a:rPr lang="en-IN" smtClean="0"/>
              <a:t>15-11-2025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85AD09-48C0-46EE-9323-5EA866ED2D86}"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854153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CA5657-DEC5-4A6F-A8F3-8828773B3E32}" type="datetimeFigureOut">
              <a:rPr lang="en-IN" smtClean="0"/>
              <a:t>15-11-2025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85AD09-48C0-46EE-9323-5EA866ED2D86}" type="slidenum">
              <a:rPr lang="en-IN" smtClean="0"/>
              <a:t>‹#›</a:t>
            </a:fld>
            <a:endParaRPr lang="en-IN"/>
          </a:p>
        </p:txBody>
      </p:sp>
    </p:spTree>
    <p:extLst>
      <p:ext uri="{BB962C8B-B14F-4D97-AF65-F5344CB8AC3E}">
        <p14:creationId xmlns:p14="http://schemas.microsoft.com/office/powerpoint/2010/main" val="2414328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CA5657-DEC5-4A6F-A8F3-8828773B3E32}" type="datetimeFigureOut">
              <a:rPr lang="en-IN" smtClean="0"/>
              <a:t>15-11-2025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85AD09-48C0-46EE-9323-5EA866ED2D86}" type="slidenum">
              <a:rPr lang="en-IN" smtClean="0"/>
              <a:t>‹#›</a:t>
            </a:fld>
            <a:endParaRPr lang="en-IN"/>
          </a:p>
        </p:txBody>
      </p:sp>
    </p:spTree>
    <p:extLst>
      <p:ext uri="{BB962C8B-B14F-4D97-AF65-F5344CB8AC3E}">
        <p14:creationId xmlns:p14="http://schemas.microsoft.com/office/powerpoint/2010/main" val="3742493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32CA5657-DEC5-4A6F-A8F3-8828773B3E32}" type="datetimeFigureOut">
              <a:rPr lang="en-IN" smtClean="0"/>
              <a:t>15-11-2025</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9985AD09-48C0-46EE-9323-5EA866ED2D86}" type="slidenum">
              <a:rPr lang="en-IN" smtClean="0"/>
              <a:t>‹#›</a:t>
            </a:fld>
            <a:endParaRPr lang="en-IN"/>
          </a:p>
        </p:txBody>
      </p:sp>
    </p:spTree>
    <p:extLst>
      <p:ext uri="{BB962C8B-B14F-4D97-AF65-F5344CB8AC3E}">
        <p14:creationId xmlns:p14="http://schemas.microsoft.com/office/powerpoint/2010/main" val="4250841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32CA5657-DEC5-4A6F-A8F3-8828773B3E32}" type="datetimeFigureOut">
              <a:rPr lang="en-IN" smtClean="0"/>
              <a:t>15-11-2025</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9985AD09-48C0-46EE-9323-5EA866ED2D86}" type="slidenum">
              <a:rPr lang="en-IN" smtClean="0"/>
              <a:t>‹#›</a:t>
            </a:fld>
            <a:endParaRPr lang="en-IN"/>
          </a:p>
        </p:txBody>
      </p:sp>
    </p:spTree>
    <p:extLst>
      <p:ext uri="{BB962C8B-B14F-4D97-AF65-F5344CB8AC3E}">
        <p14:creationId xmlns:p14="http://schemas.microsoft.com/office/powerpoint/2010/main" val="1733506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CA5657-DEC5-4A6F-A8F3-8828773B3E32}"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85AD09-48C0-46EE-9323-5EA866ED2D86}" type="slidenum">
              <a:rPr lang="en-IN" smtClean="0"/>
              <a:t>‹#›</a:t>
            </a:fld>
            <a:endParaRPr lang="en-IN"/>
          </a:p>
        </p:txBody>
      </p:sp>
    </p:spTree>
    <p:extLst>
      <p:ext uri="{BB962C8B-B14F-4D97-AF65-F5344CB8AC3E}">
        <p14:creationId xmlns:p14="http://schemas.microsoft.com/office/powerpoint/2010/main" val="3180797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CA5657-DEC5-4A6F-A8F3-8828773B3E32}"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85AD09-48C0-46EE-9323-5EA866ED2D86}" type="slidenum">
              <a:rPr lang="en-IN" smtClean="0"/>
              <a:t>‹#›</a:t>
            </a:fld>
            <a:endParaRPr lang="en-IN"/>
          </a:p>
        </p:txBody>
      </p:sp>
    </p:spTree>
    <p:extLst>
      <p:ext uri="{BB962C8B-B14F-4D97-AF65-F5344CB8AC3E}">
        <p14:creationId xmlns:p14="http://schemas.microsoft.com/office/powerpoint/2010/main" val="973061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32CA5657-DEC5-4A6F-A8F3-8828773B3E32}" type="datetimeFigureOut">
              <a:rPr lang="en-IN" smtClean="0"/>
              <a:t>15-11-2025</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9985AD09-48C0-46EE-9323-5EA866ED2D86}" type="slidenum">
              <a:rPr lang="en-IN" smtClean="0"/>
              <a:t>‹#›</a:t>
            </a:fld>
            <a:endParaRPr lang="en-IN"/>
          </a:p>
        </p:txBody>
      </p:sp>
    </p:spTree>
    <p:extLst>
      <p:ext uri="{BB962C8B-B14F-4D97-AF65-F5344CB8AC3E}">
        <p14:creationId xmlns:p14="http://schemas.microsoft.com/office/powerpoint/2010/main" val="230329806"/>
      </p:ext>
    </p:extLst>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CCB8E-E0EF-F408-CF6C-D733C58BA411}"/>
              </a:ext>
            </a:extLst>
          </p:cNvPr>
          <p:cNvSpPr>
            <a:spLocks noGrp="1"/>
          </p:cNvSpPr>
          <p:nvPr>
            <p:ph type="ctrTitle"/>
          </p:nvPr>
        </p:nvSpPr>
        <p:spPr/>
        <p:txBody>
          <a:bodyPr/>
          <a:lstStyle/>
          <a:p>
            <a:r>
              <a:rPr lang="en-IN" dirty="0" err="1"/>
              <a:t>NetFlix</a:t>
            </a:r>
            <a:r>
              <a:rPr lang="en-IN" dirty="0"/>
              <a:t> Data Analysis</a:t>
            </a:r>
          </a:p>
        </p:txBody>
      </p:sp>
      <p:sp>
        <p:nvSpPr>
          <p:cNvPr id="3" name="Subtitle 2">
            <a:extLst>
              <a:ext uri="{FF2B5EF4-FFF2-40B4-BE49-F238E27FC236}">
                <a16:creationId xmlns:a16="http://schemas.microsoft.com/office/drawing/2014/main" id="{DEEFCA97-6AD7-8577-82AF-56B719D4FFC3}"/>
              </a:ext>
            </a:extLst>
          </p:cNvPr>
          <p:cNvSpPr>
            <a:spLocks noGrp="1"/>
          </p:cNvSpPr>
          <p:nvPr>
            <p:ph type="subTitle" idx="1"/>
          </p:nvPr>
        </p:nvSpPr>
        <p:spPr>
          <a:xfrm>
            <a:off x="9381744" y="6228969"/>
            <a:ext cx="2724531" cy="390906"/>
          </a:xfrm>
        </p:spPr>
        <p:txBody>
          <a:bodyPr>
            <a:normAutofit lnSpcReduction="10000"/>
          </a:bodyPr>
          <a:lstStyle/>
          <a:p>
            <a:r>
              <a:rPr lang="en-IN" dirty="0"/>
              <a:t>Sanjayan </a:t>
            </a:r>
            <a:r>
              <a:rPr lang="en-IN" dirty="0" err="1"/>
              <a:t>Malamel</a:t>
            </a:r>
            <a:r>
              <a:rPr lang="en-IN" dirty="0"/>
              <a:t> Suresh</a:t>
            </a:r>
          </a:p>
          <a:p>
            <a:endParaRPr lang="en-IN" dirty="0"/>
          </a:p>
        </p:txBody>
      </p:sp>
    </p:spTree>
    <p:extLst>
      <p:ext uri="{BB962C8B-B14F-4D97-AF65-F5344CB8AC3E}">
        <p14:creationId xmlns:p14="http://schemas.microsoft.com/office/powerpoint/2010/main" val="4155696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5CFBD-A270-963E-3AF8-C1E994D3CB15}"/>
              </a:ext>
            </a:extLst>
          </p:cNvPr>
          <p:cNvSpPr>
            <a:spLocks noGrp="1"/>
          </p:cNvSpPr>
          <p:nvPr>
            <p:ph type="title"/>
          </p:nvPr>
        </p:nvSpPr>
        <p:spPr/>
        <p:txBody>
          <a:bodyPr/>
          <a:lstStyle/>
          <a:p>
            <a:r>
              <a:rPr lang="en-IN" dirty="0"/>
              <a:t>About the data</a:t>
            </a:r>
          </a:p>
        </p:txBody>
      </p:sp>
      <p:sp>
        <p:nvSpPr>
          <p:cNvPr id="3" name="Content Placeholder 2">
            <a:extLst>
              <a:ext uri="{FF2B5EF4-FFF2-40B4-BE49-F238E27FC236}">
                <a16:creationId xmlns:a16="http://schemas.microsoft.com/office/drawing/2014/main" id="{EF1C587B-D88E-0D35-2A0F-DE36B977B91E}"/>
              </a:ext>
            </a:extLst>
          </p:cNvPr>
          <p:cNvSpPr>
            <a:spLocks noGrp="1"/>
          </p:cNvSpPr>
          <p:nvPr>
            <p:ph idx="1"/>
          </p:nvPr>
        </p:nvSpPr>
        <p:spPr/>
        <p:txBody>
          <a:bodyPr>
            <a:normAutofit/>
          </a:bodyPr>
          <a:lstStyle/>
          <a:p>
            <a:r>
              <a:rPr lang="en-US" sz="2000" dirty="0"/>
              <a:t>Netflix is one of the most popular media and video streaming platforms. They have over 8,000 movies and TV shows available on their platform. As of mid-2021, they have over 200 Million Subscribers globally. This tabular dataset consists of listings for all movies and TV shows available on Netflix, along with details such as cast, directors, ratings, release year, and duration.</a:t>
            </a:r>
            <a:endParaRPr lang="en-IN" sz="2000" dirty="0"/>
          </a:p>
        </p:txBody>
      </p:sp>
    </p:spTree>
    <p:extLst>
      <p:ext uri="{BB962C8B-B14F-4D97-AF65-F5344CB8AC3E}">
        <p14:creationId xmlns:p14="http://schemas.microsoft.com/office/powerpoint/2010/main" val="4003145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3011D-7E04-42FC-DA24-311ECF0D61A6}"/>
              </a:ext>
            </a:extLst>
          </p:cNvPr>
          <p:cNvSpPr>
            <a:spLocks noGrp="1"/>
          </p:cNvSpPr>
          <p:nvPr>
            <p:ph type="title"/>
          </p:nvPr>
        </p:nvSpPr>
        <p:spPr/>
        <p:txBody>
          <a:bodyPr/>
          <a:lstStyle/>
          <a:p>
            <a:r>
              <a:rPr lang="en-IN" dirty="0"/>
              <a:t>The objective</a:t>
            </a:r>
          </a:p>
        </p:txBody>
      </p:sp>
      <p:sp>
        <p:nvSpPr>
          <p:cNvPr id="3" name="Content Placeholder 2">
            <a:extLst>
              <a:ext uri="{FF2B5EF4-FFF2-40B4-BE49-F238E27FC236}">
                <a16:creationId xmlns:a16="http://schemas.microsoft.com/office/drawing/2014/main" id="{54C23CE4-A75B-15FE-5E58-F1E4CC0BAEB2}"/>
              </a:ext>
            </a:extLst>
          </p:cNvPr>
          <p:cNvSpPr>
            <a:spLocks noGrp="1"/>
          </p:cNvSpPr>
          <p:nvPr>
            <p:ph idx="1"/>
          </p:nvPr>
        </p:nvSpPr>
        <p:spPr/>
        <p:txBody>
          <a:bodyPr>
            <a:normAutofit/>
          </a:bodyPr>
          <a:lstStyle/>
          <a:p>
            <a:r>
              <a:rPr lang="en-US" sz="2000" dirty="0"/>
              <a:t>Understanding what content is available in different countries.</a:t>
            </a:r>
          </a:p>
          <a:p>
            <a:r>
              <a:rPr lang="en-US" sz="2000" dirty="0"/>
              <a:t>Identifying similar content by matching text-based features.</a:t>
            </a:r>
          </a:p>
          <a:p>
            <a:r>
              <a:rPr lang="en-US" sz="2000" dirty="0"/>
              <a:t>Network analysis of Actors / Directors and find interesting insights.</a:t>
            </a:r>
          </a:p>
          <a:p>
            <a:r>
              <a:rPr lang="en-US" sz="2000" dirty="0"/>
              <a:t>Does Netflix have more focus on TV Shows than movies in recent years?</a:t>
            </a:r>
          </a:p>
          <a:p>
            <a:endParaRPr lang="en-IN" sz="2000" dirty="0"/>
          </a:p>
        </p:txBody>
      </p:sp>
    </p:spTree>
    <p:extLst>
      <p:ext uri="{BB962C8B-B14F-4D97-AF65-F5344CB8AC3E}">
        <p14:creationId xmlns:p14="http://schemas.microsoft.com/office/powerpoint/2010/main" val="816809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F0A9E-556F-8EE4-C2A9-2995DC79E1D6}"/>
              </a:ext>
            </a:extLst>
          </p:cNvPr>
          <p:cNvSpPr>
            <a:spLocks noGrp="1"/>
          </p:cNvSpPr>
          <p:nvPr>
            <p:ph type="title"/>
          </p:nvPr>
        </p:nvSpPr>
        <p:spPr/>
        <p:txBody>
          <a:bodyPr/>
          <a:lstStyle/>
          <a:p>
            <a:r>
              <a:rPr lang="en-IN" dirty="0"/>
              <a:t>Tools and technologies used</a:t>
            </a:r>
          </a:p>
        </p:txBody>
      </p:sp>
      <p:sp>
        <p:nvSpPr>
          <p:cNvPr id="3" name="Content Placeholder 2">
            <a:extLst>
              <a:ext uri="{FF2B5EF4-FFF2-40B4-BE49-F238E27FC236}">
                <a16:creationId xmlns:a16="http://schemas.microsoft.com/office/drawing/2014/main" id="{BFF630E6-7102-107A-4892-0B021F5899B3}"/>
              </a:ext>
            </a:extLst>
          </p:cNvPr>
          <p:cNvSpPr>
            <a:spLocks noGrp="1"/>
          </p:cNvSpPr>
          <p:nvPr>
            <p:ph idx="1"/>
          </p:nvPr>
        </p:nvSpPr>
        <p:spPr/>
        <p:txBody>
          <a:bodyPr/>
          <a:lstStyle/>
          <a:p>
            <a:r>
              <a:rPr lang="en-IN" dirty="0"/>
              <a:t>Programming language: Python.</a:t>
            </a:r>
          </a:p>
          <a:p>
            <a:r>
              <a:rPr lang="en-IN" dirty="0"/>
              <a:t>Libraries : Pandas, </a:t>
            </a:r>
            <a:r>
              <a:rPr lang="en-IN" dirty="0" err="1"/>
              <a:t>Numpy</a:t>
            </a:r>
            <a:r>
              <a:rPr lang="en-IN" dirty="0"/>
              <a:t>, </a:t>
            </a:r>
            <a:r>
              <a:rPr lang="en-IN" dirty="0" err="1"/>
              <a:t>Networkx</a:t>
            </a:r>
            <a:r>
              <a:rPr lang="en-IN" dirty="0"/>
              <a:t>, Sci-kit Learn, Matplotlib, python-Louvain.</a:t>
            </a:r>
          </a:p>
          <a:p>
            <a:pPr marL="0" indent="0">
              <a:buNone/>
            </a:pPr>
            <a:endParaRPr lang="en-IN" dirty="0"/>
          </a:p>
        </p:txBody>
      </p:sp>
    </p:spTree>
    <p:extLst>
      <p:ext uri="{BB962C8B-B14F-4D97-AF65-F5344CB8AC3E}">
        <p14:creationId xmlns:p14="http://schemas.microsoft.com/office/powerpoint/2010/main" val="1958460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48518-16D2-4CD1-7062-01F9EB51F811}"/>
              </a:ext>
            </a:extLst>
          </p:cNvPr>
          <p:cNvSpPr>
            <a:spLocks noGrp="1"/>
          </p:cNvSpPr>
          <p:nvPr>
            <p:ph type="title"/>
          </p:nvPr>
        </p:nvSpPr>
        <p:spPr/>
        <p:txBody>
          <a:bodyPr/>
          <a:lstStyle/>
          <a:p>
            <a:r>
              <a:rPr lang="en-IN" dirty="0"/>
              <a:t>Availability of content</a:t>
            </a:r>
          </a:p>
        </p:txBody>
      </p:sp>
      <p:sp>
        <p:nvSpPr>
          <p:cNvPr id="3" name="Content Placeholder 2">
            <a:extLst>
              <a:ext uri="{FF2B5EF4-FFF2-40B4-BE49-F238E27FC236}">
                <a16:creationId xmlns:a16="http://schemas.microsoft.com/office/drawing/2014/main" id="{D559828F-BC68-7D0A-F021-F631A455DC30}"/>
              </a:ext>
            </a:extLst>
          </p:cNvPr>
          <p:cNvSpPr>
            <a:spLocks noGrp="1"/>
          </p:cNvSpPr>
          <p:nvPr>
            <p:ph idx="1"/>
          </p:nvPr>
        </p:nvSpPr>
        <p:spPr/>
        <p:txBody>
          <a:bodyPr/>
          <a:lstStyle/>
          <a:p>
            <a:r>
              <a:rPr lang="en-IN" dirty="0"/>
              <a:t>The number of distinct contents available in each country is calculated.</a:t>
            </a:r>
          </a:p>
          <a:p>
            <a:r>
              <a:rPr lang="en-IN" dirty="0"/>
              <a:t>The contents available in each country are stored in a dictionary.</a:t>
            </a:r>
          </a:p>
          <a:p>
            <a:endParaRPr lang="en-IN" dirty="0"/>
          </a:p>
          <a:p>
            <a:endParaRPr lang="en-IN" dirty="0"/>
          </a:p>
          <a:p>
            <a:endParaRPr lang="en-IN" dirty="0"/>
          </a:p>
          <a:p>
            <a:endParaRPr lang="en-IN" dirty="0"/>
          </a:p>
          <a:p>
            <a:endParaRPr lang="en-IN" dirty="0"/>
          </a:p>
        </p:txBody>
      </p:sp>
      <p:pic>
        <p:nvPicPr>
          <p:cNvPr id="5" name="Picture 4">
            <a:extLst>
              <a:ext uri="{FF2B5EF4-FFF2-40B4-BE49-F238E27FC236}">
                <a16:creationId xmlns:a16="http://schemas.microsoft.com/office/drawing/2014/main" id="{0F4DFE98-CAE5-45B7-61C4-E8F2915331D4}"/>
              </a:ext>
            </a:extLst>
          </p:cNvPr>
          <p:cNvPicPr>
            <a:picLocks noChangeAspect="1"/>
          </p:cNvPicPr>
          <p:nvPr/>
        </p:nvPicPr>
        <p:blipFill>
          <a:blip r:embed="rId2"/>
          <a:stretch>
            <a:fillRect/>
          </a:stretch>
        </p:blipFill>
        <p:spPr>
          <a:xfrm>
            <a:off x="4676775" y="3706107"/>
            <a:ext cx="5284089" cy="1748169"/>
          </a:xfrm>
          <a:prstGeom prst="rect">
            <a:avLst/>
          </a:prstGeom>
        </p:spPr>
      </p:pic>
      <p:pic>
        <p:nvPicPr>
          <p:cNvPr id="4" name="Picture 3">
            <a:extLst>
              <a:ext uri="{FF2B5EF4-FFF2-40B4-BE49-F238E27FC236}">
                <a16:creationId xmlns:a16="http://schemas.microsoft.com/office/drawing/2014/main" id="{EE3E31D3-6B8C-C860-3E40-A6E648889918}"/>
              </a:ext>
            </a:extLst>
          </p:cNvPr>
          <p:cNvPicPr>
            <a:picLocks noChangeAspect="1"/>
          </p:cNvPicPr>
          <p:nvPr/>
        </p:nvPicPr>
        <p:blipFill>
          <a:blip r:embed="rId3"/>
          <a:srcRect l="14664" r="1807"/>
          <a:stretch>
            <a:fillRect/>
          </a:stretch>
        </p:blipFill>
        <p:spPr>
          <a:xfrm>
            <a:off x="2231136" y="3706107"/>
            <a:ext cx="1781175" cy="1748169"/>
          </a:xfrm>
          <a:prstGeom prst="rect">
            <a:avLst/>
          </a:prstGeom>
        </p:spPr>
      </p:pic>
    </p:spTree>
    <p:extLst>
      <p:ext uri="{BB962C8B-B14F-4D97-AF65-F5344CB8AC3E}">
        <p14:creationId xmlns:p14="http://schemas.microsoft.com/office/powerpoint/2010/main" val="3286557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838A1-81C3-B6CD-2D15-C22085A6427F}"/>
              </a:ext>
            </a:extLst>
          </p:cNvPr>
          <p:cNvSpPr>
            <a:spLocks noGrp="1"/>
          </p:cNvSpPr>
          <p:nvPr>
            <p:ph type="title"/>
          </p:nvPr>
        </p:nvSpPr>
        <p:spPr/>
        <p:txBody>
          <a:bodyPr/>
          <a:lstStyle/>
          <a:p>
            <a:r>
              <a:rPr lang="en-IN" dirty="0"/>
              <a:t>Similar content detection</a:t>
            </a:r>
          </a:p>
        </p:txBody>
      </p:sp>
      <p:sp>
        <p:nvSpPr>
          <p:cNvPr id="3" name="Content Placeholder 2">
            <a:extLst>
              <a:ext uri="{FF2B5EF4-FFF2-40B4-BE49-F238E27FC236}">
                <a16:creationId xmlns:a16="http://schemas.microsoft.com/office/drawing/2014/main" id="{A3AD1A1B-8C57-F598-DF35-C19A3DFD9D0E}"/>
              </a:ext>
            </a:extLst>
          </p:cNvPr>
          <p:cNvSpPr>
            <a:spLocks noGrp="1"/>
          </p:cNvSpPr>
          <p:nvPr>
            <p:ph idx="1"/>
          </p:nvPr>
        </p:nvSpPr>
        <p:spPr/>
        <p:txBody>
          <a:bodyPr/>
          <a:lstStyle/>
          <a:p>
            <a:r>
              <a:rPr lang="en-US" dirty="0"/>
              <a:t>Similar movies are identified using natural language processing (NLP) techniques.</a:t>
            </a:r>
          </a:p>
          <a:p>
            <a:r>
              <a:rPr lang="en-US" dirty="0"/>
              <a:t>The movie descriptions provided in the dataset serve as the input text.</a:t>
            </a:r>
          </a:p>
          <a:p>
            <a:r>
              <a:rPr lang="en-US" dirty="0"/>
              <a:t>The descriptions are </a:t>
            </a:r>
            <a:r>
              <a:rPr lang="en-US" dirty="0" err="1"/>
              <a:t>vectorised</a:t>
            </a:r>
            <a:r>
              <a:rPr lang="en-US" dirty="0"/>
              <a:t> using the TF-IDF method, and cosine similarity is applied to measure textual similarity.</a:t>
            </a:r>
          </a:p>
          <a:p>
            <a:r>
              <a:rPr lang="en-US" dirty="0"/>
              <a:t>The cosine similarity matrix is sorted in ascending order for each movie.</a:t>
            </a:r>
          </a:p>
          <a:p>
            <a:r>
              <a:rPr lang="en-US" dirty="0"/>
              <a:t>The top five highest similarity scores for each movie are selected as the most similar content recommendations.</a:t>
            </a:r>
            <a:endParaRPr lang="en-IN" dirty="0"/>
          </a:p>
        </p:txBody>
      </p:sp>
    </p:spTree>
    <p:extLst>
      <p:ext uri="{BB962C8B-B14F-4D97-AF65-F5344CB8AC3E}">
        <p14:creationId xmlns:p14="http://schemas.microsoft.com/office/powerpoint/2010/main" val="1271531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568B2-BFA4-7261-803D-6703AB942BE3}"/>
              </a:ext>
            </a:extLst>
          </p:cNvPr>
          <p:cNvSpPr>
            <a:spLocks noGrp="1"/>
          </p:cNvSpPr>
          <p:nvPr>
            <p:ph type="title"/>
          </p:nvPr>
        </p:nvSpPr>
        <p:spPr/>
        <p:txBody>
          <a:bodyPr/>
          <a:lstStyle/>
          <a:p>
            <a:r>
              <a:rPr lang="en-IN" dirty="0"/>
              <a:t>Network analysis of actors</a:t>
            </a:r>
          </a:p>
        </p:txBody>
      </p:sp>
      <p:sp>
        <p:nvSpPr>
          <p:cNvPr id="3" name="Content Placeholder 2">
            <a:extLst>
              <a:ext uri="{FF2B5EF4-FFF2-40B4-BE49-F238E27FC236}">
                <a16:creationId xmlns:a16="http://schemas.microsoft.com/office/drawing/2014/main" id="{196B6AA1-958A-58E8-B9F1-2938053D1523}"/>
              </a:ext>
            </a:extLst>
          </p:cNvPr>
          <p:cNvSpPr>
            <a:spLocks noGrp="1"/>
          </p:cNvSpPr>
          <p:nvPr>
            <p:ph idx="1"/>
          </p:nvPr>
        </p:nvSpPr>
        <p:spPr/>
        <p:txBody>
          <a:bodyPr/>
          <a:lstStyle/>
          <a:p>
            <a:r>
              <a:rPr lang="en-US" dirty="0"/>
              <a:t>We selected the country with the highest volume of content and </a:t>
            </a:r>
            <a:r>
              <a:rPr lang="en-US" dirty="0" err="1"/>
              <a:t>analysed</a:t>
            </a:r>
            <a:r>
              <a:rPr lang="en-US" dirty="0"/>
              <a:t> its actor network.</a:t>
            </a:r>
          </a:p>
          <a:p>
            <a:r>
              <a:rPr lang="en-US" dirty="0"/>
              <a:t>Each actor is represented as a node in the network.</a:t>
            </a:r>
          </a:p>
          <a:p>
            <a:r>
              <a:rPr lang="en-US" dirty="0"/>
              <a:t>An edge between two nodes indicates that the corresponding actors have appeared together in a movie. The edge weight reflects the number of movies in which the pair of actors have co-starred.</a:t>
            </a:r>
          </a:p>
          <a:p>
            <a:r>
              <a:rPr lang="en-US" dirty="0"/>
              <a:t>The network is processed using the Louvain clustering algorithm to identify underlying community structures, and the actors are grouped into distinct clusters based on their network connectivity.</a:t>
            </a:r>
            <a:endParaRPr lang="en-IN" dirty="0"/>
          </a:p>
        </p:txBody>
      </p:sp>
    </p:spTree>
    <p:extLst>
      <p:ext uri="{BB962C8B-B14F-4D97-AF65-F5344CB8AC3E}">
        <p14:creationId xmlns:p14="http://schemas.microsoft.com/office/powerpoint/2010/main" val="550309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E48E3-778F-1E8C-3793-6D63687D9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63E10-546A-ECC6-E2AB-6F3A1C9CAF31}"/>
              </a:ext>
            </a:extLst>
          </p:cNvPr>
          <p:cNvSpPr>
            <a:spLocks noGrp="1"/>
          </p:cNvSpPr>
          <p:nvPr>
            <p:ph type="title"/>
          </p:nvPr>
        </p:nvSpPr>
        <p:spPr/>
        <p:txBody>
          <a:bodyPr/>
          <a:lstStyle/>
          <a:p>
            <a:r>
              <a:rPr lang="en-IN" dirty="0"/>
              <a:t>Network of actors and directors</a:t>
            </a:r>
          </a:p>
        </p:txBody>
      </p:sp>
      <p:sp>
        <p:nvSpPr>
          <p:cNvPr id="3" name="Content Placeholder 2">
            <a:extLst>
              <a:ext uri="{FF2B5EF4-FFF2-40B4-BE49-F238E27FC236}">
                <a16:creationId xmlns:a16="http://schemas.microsoft.com/office/drawing/2014/main" id="{EC6CE318-222A-8DD3-86DB-ADAC6615DCD8}"/>
              </a:ext>
            </a:extLst>
          </p:cNvPr>
          <p:cNvSpPr>
            <a:spLocks noGrp="1"/>
          </p:cNvSpPr>
          <p:nvPr>
            <p:ph idx="1"/>
          </p:nvPr>
        </p:nvSpPr>
        <p:spPr/>
        <p:txBody>
          <a:bodyPr>
            <a:normAutofit/>
          </a:bodyPr>
          <a:lstStyle/>
          <a:p>
            <a:r>
              <a:rPr lang="en-US" sz="2000" dirty="0"/>
              <a:t>A directed graph is constructed to represent relationships between directors and actors.</a:t>
            </a:r>
          </a:p>
          <a:p>
            <a:r>
              <a:rPr lang="en-US" sz="2000" dirty="0"/>
              <a:t>Nodes correspond to both directors and actors.</a:t>
            </a:r>
          </a:p>
          <a:p>
            <a:r>
              <a:rPr lang="en-US" sz="2000" dirty="0"/>
              <a:t>A directed edge from a director to an actor represents a movie they worked on together, with the edge weight indicating the number of collaborations.</a:t>
            </a:r>
          </a:p>
          <a:p>
            <a:r>
              <a:rPr lang="en-US" sz="2000" dirty="0"/>
              <a:t>Various centrality measures are computed to identify the most influential directors and actors within the network.</a:t>
            </a:r>
            <a:endParaRPr lang="en-IN" sz="2000" dirty="0"/>
          </a:p>
        </p:txBody>
      </p:sp>
    </p:spTree>
    <p:extLst>
      <p:ext uri="{BB962C8B-B14F-4D97-AF65-F5344CB8AC3E}">
        <p14:creationId xmlns:p14="http://schemas.microsoft.com/office/powerpoint/2010/main" val="153655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CF31F-A81D-EB2B-A665-4E1562821381}"/>
              </a:ext>
            </a:extLst>
          </p:cNvPr>
          <p:cNvSpPr>
            <a:spLocks noGrp="1"/>
          </p:cNvSpPr>
          <p:nvPr>
            <p:ph type="title"/>
          </p:nvPr>
        </p:nvSpPr>
        <p:spPr/>
        <p:txBody>
          <a:bodyPr/>
          <a:lstStyle/>
          <a:p>
            <a:r>
              <a:rPr lang="en-IN" dirty="0"/>
              <a:t>Trend analysis</a:t>
            </a:r>
          </a:p>
        </p:txBody>
      </p:sp>
      <p:sp>
        <p:nvSpPr>
          <p:cNvPr id="3" name="Content Placeholder 2">
            <a:extLst>
              <a:ext uri="{FF2B5EF4-FFF2-40B4-BE49-F238E27FC236}">
                <a16:creationId xmlns:a16="http://schemas.microsoft.com/office/drawing/2014/main" id="{106A2485-DCAE-3B00-1A99-7B01ECDC2952}"/>
              </a:ext>
            </a:extLst>
          </p:cNvPr>
          <p:cNvSpPr>
            <a:spLocks noGrp="1"/>
          </p:cNvSpPr>
          <p:nvPr>
            <p:ph idx="1"/>
          </p:nvPr>
        </p:nvSpPr>
        <p:spPr>
          <a:xfrm>
            <a:off x="2221611" y="2638044"/>
            <a:ext cx="7729728" cy="3101983"/>
          </a:xfrm>
        </p:spPr>
        <p:txBody>
          <a:bodyPr/>
          <a:lstStyle/>
          <a:p>
            <a:r>
              <a:rPr lang="en-IN" dirty="0"/>
              <a:t>The number of movies and TV shows per year is aggregated from the data.</a:t>
            </a:r>
          </a:p>
          <a:p>
            <a:r>
              <a:rPr lang="en-IN" dirty="0"/>
              <a:t> The Matplotlib library is used for plotting a line graph.</a:t>
            </a:r>
          </a:p>
          <a:p>
            <a:r>
              <a:rPr lang="en-IN" dirty="0"/>
              <a:t>The trend is evaluated.</a:t>
            </a:r>
          </a:p>
        </p:txBody>
      </p:sp>
      <p:pic>
        <p:nvPicPr>
          <p:cNvPr id="5" name="Picture 4">
            <a:extLst>
              <a:ext uri="{FF2B5EF4-FFF2-40B4-BE49-F238E27FC236}">
                <a16:creationId xmlns:a16="http://schemas.microsoft.com/office/drawing/2014/main" id="{6A506C0A-8FD3-0FB9-9CBE-C2B156EB7DE1}"/>
              </a:ext>
            </a:extLst>
          </p:cNvPr>
          <p:cNvPicPr>
            <a:picLocks noChangeAspect="1"/>
          </p:cNvPicPr>
          <p:nvPr/>
        </p:nvPicPr>
        <p:blipFill>
          <a:blip r:embed="rId2"/>
          <a:stretch>
            <a:fillRect/>
          </a:stretch>
        </p:blipFill>
        <p:spPr>
          <a:xfrm>
            <a:off x="3654925" y="3829050"/>
            <a:ext cx="4882150" cy="1910977"/>
          </a:xfrm>
          <a:prstGeom prst="rect">
            <a:avLst/>
          </a:prstGeom>
        </p:spPr>
      </p:pic>
    </p:spTree>
    <p:extLst>
      <p:ext uri="{BB962C8B-B14F-4D97-AF65-F5344CB8AC3E}">
        <p14:creationId xmlns:p14="http://schemas.microsoft.com/office/powerpoint/2010/main" val="2411859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85139-9321-997E-5B10-2B90B199E9DC}"/>
              </a:ext>
            </a:extLst>
          </p:cNvPr>
          <p:cNvSpPr>
            <a:spLocks noGrp="1"/>
          </p:cNvSpPr>
          <p:nvPr>
            <p:ph type="title"/>
          </p:nvPr>
        </p:nvSpPr>
        <p:spPr>
          <a:xfrm>
            <a:off x="2231136" y="964691"/>
            <a:ext cx="7729728" cy="4855083"/>
          </a:xfrm>
        </p:spPr>
        <p:txBody>
          <a:bodyPr/>
          <a:lstStyle/>
          <a:p>
            <a:r>
              <a:rPr lang="en-IN" dirty="0"/>
              <a:t>THANK YOU</a:t>
            </a:r>
          </a:p>
        </p:txBody>
      </p:sp>
      <p:sp>
        <p:nvSpPr>
          <p:cNvPr id="3" name="Content Placeholder 2">
            <a:extLst>
              <a:ext uri="{FF2B5EF4-FFF2-40B4-BE49-F238E27FC236}">
                <a16:creationId xmlns:a16="http://schemas.microsoft.com/office/drawing/2014/main" id="{DFD8EC91-D580-6DDF-23D7-91E952C8D008}"/>
              </a:ext>
            </a:extLst>
          </p:cNvPr>
          <p:cNvSpPr>
            <a:spLocks noGrp="1"/>
          </p:cNvSpPr>
          <p:nvPr>
            <p:ph idx="1"/>
          </p:nvPr>
        </p:nvSpPr>
        <p:spPr>
          <a:xfrm>
            <a:off x="2231136" y="5694307"/>
            <a:ext cx="7729728" cy="45719"/>
          </a:xfrm>
        </p:spPr>
        <p:txBody>
          <a:bodyPr>
            <a:normAutofit fontScale="25000" lnSpcReduction="20000"/>
          </a:bodyPr>
          <a:lstStyle/>
          <a:p>
            <a:endParaRPr lang="en-IN" dirty="0"/>
          </a:p>
        </p:txBody>
      </p:sp>
    </p:spTree>
    <p:extLst>
      <p:ext uri="{BB962C8B-B14F-4D97-AF65-F5344CB8AC3E}">
        <p14:creationId xmlns:p14="http://schemas.microsoft.com/office/powerpoint/2010/main" val="363731227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103</TotalTime>
  <Words>454</Words>
  <Application>Microsoft Office PowerPoint</Application>
  <PresentationFormat>Widescreen</PresentationFormat>
  <Paragraphs>39</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Gill Sans MT</vt:lpstr>
      <vt:lpstr>Parcel</vt:lpstr>
      <vt:lpstr>NetFlix Data Analysis</vt:lpstr>
      <vt:lpstr>About the data</vt:lpstr>
      <vt:lpstr>The objective</vt:lpstr>
      <vt:lpstr>Tools and technologies used</vt:lpstr>
      <vt:lpstr>Availability of content</vt:lpstr>
      <vt:lpstr>Similar content detection</vt:lpstr>
      <vt:lpstr>Network analysis of actors</vt:lpstr>
      <vt:lpstr>Network of actors and directors</vt:lpstr>
      <vt:lpstr>Trend analysis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Sanjayan MS</dc:creator>
  <cp:lastModifiedBy>Sanjayan MS</cp:lastModifiedBy>
  <cp:revision>3</cp:revision>
  <dcterms:created xsi:type="dcterms:W3CDTF">2025-11-09T17:33:44Z</dcterms:created>
  <dcterms:modified xsi:type="dcterms:W3CDTF">2025-11-15T18:13:36Z</dcterms:modified>
</cp:coreProperties>
</file>